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375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0" y="2157412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02560" y="2576512"/>
            <a:ext cx="5200914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chemeClr val="bg1"/>
                </a:solidFill>
                <a:latin typeface="Montserrat"/>
              </a:rPr>
              <a:t>RELATÓRIO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9349" y="3490912"/>
            <a:ext cx="531412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chemeClr val="bg1"/>
                </a:solidFill>
                <a:latin typeface="Montserrat"/>
              </a:rPr>
              <a:t>Sistema de Controle de Vendas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0" y="4471987"/>
            <a:ext cx="275395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chemeClr val="bg1"/>
                </a:solidFill>
                <a:latin typeface="Inter"/>
              </a:rPr>
              <a:t>Autor: Marcelo Rogério Donadel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2614612"/>
            <a:ext cx="2400300" cy="2400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3243262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24137"/>
            <a:ext cx="1714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1943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843337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567237"/>
            <a:ext cx="2286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A Evolução do Controle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5850" y="2595562"/>
            <a:ext cx="5962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Inter"/>
              </a:rPr>
              <a:t>Antes: Dados dispersos em planilhas manuais.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90862"/>
            <a:ext cx="4743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Problema: Consultas difíceis e vulnerabilidade a erros.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3814762"/>
            <a:ext cx="47720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Inter"/>
              </a:rPr>
              <a:t>Solução SQL: Informações centralizadas em banco de dados.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38662"/>
            <a:ext cx="4743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Resultado: Controle total e análise ágil das vendas.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609600"/>
            <a:ext cx="2238375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805112"/>
            <a:ext cx="3352800" cy="251460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419600" y="2795587"/>
            <a:ext cx="3352800" cy="2533650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795587"/>
            <a:ext cx="3352800" cy="2533650"/>
          </a:xfrm>
          <a:prstGeom prst="roundRect">
            <a:avLst>
              <a:gd name="adj" fmla="val 60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04850"/>
            <a:ext cx="1714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25" y="3195637"/>
            <a:ext cx="257175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5" y="3186112"/>
            <a:ext cx="257175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725" y="3186112"/>
            <a:ext cx="257175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50" y="685800"/>
            <a:ext cx="17811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Inter"/>
              </a:rPr>
              <a:t>Arquitetura do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049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O Modelo Relacional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729037"/>
            <a:ext cx="337542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Tabelas Estruturadas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157662"/>
            <a:ext cx="2667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Informações organizadas estritamente em linhas e colunas.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0125" y="3719512"/>
            <a:ext cx="28003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Conexões por Chaves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0125" y="4424362"/>
            <a:ext cx="2667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Relacionamento direto entre diferentes partes do sistema.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725" y="3719512"/>
            <a:ext cx="28003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Eficiência Operacional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725" y="4424362"/>
            <a:ext cx="2667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Filtros rápidos e eliminação de repetições desnecessárias.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66987"/>
            <a:ext cx="3352800" cy="2495550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2566987"/>
            <a:ext cx="3352800" cy="2495550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66987"/>
            <a:ext cx="3352800" cy="2495550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5053012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2566987"/>
            <a:ext cx="33528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2566987"/>
            <a:ext cx="9525" cy="2495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2566987"/>
            <a:ext cx="9525" cy="2495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19600" y="5053012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19600" y="2566987"/>
            <a:ext cx="33528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9600" y="2566987"/>
            <a:ext cx="9525" cy="2495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62875" y="2566987"/>
            <a:ext cx="9525" cy="2495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5053012"/>
            <a:ext cx="335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566987"/>
            <a:ext cx="33528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2566987"/>
            <a:ext cx="9525" cy="2495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420475" y="2566987"/>
            <a:ext cx="9525" cy="2495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005137"/>
            <a:ext cx="2857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005137"/>
            <a:ext cx="20002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005137"/>
            <a:ext cx="257175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Estrutura Principal de Tabelas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2986087"/>
            <a:ext cx="3375421" cy="276225"/>
          </a:xfrm>
          <a:prstGeom prst="rect">
            <a:avLst/>
          </a:prstGeom>
          <a:noFill/>
        </p:spPr>
        <p:txBody>
          <a:bodyPr wrap="none" lIns="36195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Clientes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0125" y="2986087"/>
            <a:ext cx="3375421" cy="276225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Produtos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725" y="2986087"/>
            <a:ext cx="3375421" cy="276225"/>
          </a:xfrm>
          <a:prstGeom prst="rect">
            <a:avLst/>
          </a:prstGeom>
          <a:noFill/>
        </p:spPr>
        <p:txBody>
          <a:bodyPr wrap="none" lIns="33337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Pedidos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35671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Identificador Único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525" y="38719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Nome Completo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525" y="41767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E-mail (Restrição Única)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4815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Telefone de Contato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0125" y="35671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Identificador Único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0125" y="38719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Nome do Item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0125" y="41767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Categoria de Venda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0125" y="44815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Preço e Estoque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725" y="35671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Identificador Único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725" y="38719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Cliente Comprador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725" y="41767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Produto Adquirido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725" y="4481512"/>
            <a:ext cx="3214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Quantidade 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586162"/>
            <a:ext cx="30480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0" y="3371850"/>
            <a:ext cx="30480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2000" y="3586162"/>
            <a:ext cx="30480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81050" y="3605212"/>
            <a:ext cx="3009900" cy="4857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91050" y="3390900"/>
            <a:ext cx="3009900" cy="4857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1050" y="3605212"/>
            <a:ext cx="3009900" cy="4857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4262437"/>
            <a:ext cx="762000" cy="19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4262437"/>
            <a:ext cx="762000" cy="19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5" y="4110037"/>
            <a:ext cx="4381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925" y="4110037"/>
            <a:ext cx="4381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Relacionamentos e Chaves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381125"/>
            <a:ext cx="7715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Chaves Primárias (PK) garantem identificação única. Chaves Estrangeiras (FK) conectam registros e impedem referências inválidas.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212" y="3757612"/>
            <a:ext cx="34575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633912"/>
            <a:ext cx="2800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nome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7212" y="3543300"/>
            <a:ext cx="34575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PEDIDOS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7212" y="3757612"/>
            <a:ext cx="34575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Montserrat"/>
              </a:rPr>
              <a:t>PRODUTOS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3450" y="4633912"/>
            <a:ext cx="2800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nome_produto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4205287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id_cliente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7575" y="4205287"/>
            <a:ext cx="466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Inter"/>
              </a:rPr>
              <a:t>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3450" y="3990975"/>
            <a:ext cx="1000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id_pedido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7575" y="3990975"/>
            <a:ext cx="466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Inter"/>
              </a:rPr>
              <a:t>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3450" y="441960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id_cliente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7100" y="4419600"/>
            <a:ext cx="457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FK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3450" y="4848225"/>
            <a:ext cx="1066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id_produto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7100" y="4848225"/>
            <a:ext cx="4572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3450" y="4205287"/>
            <a:ext cx="1066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id_produto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77575" y="4205287"/>
            <a:ext cx="466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Inter"/>
              </a:rPr>
              <a:t>PK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609600"/>
            <a:ext cx="238125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714625"/>
            <a:ext cx="10668000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629025"/>
            <a:ext cx="10668000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543425"/>
            <a:ext cx="10668000" cy="6858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2714625"/>
            <a:ext cx="57150" cy="685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3629025"/>
            <a:ext cx="5715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4543425"/>
            <a:ext cx="57150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04850"/>
            <a:ext cx="171450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50" y="685800"/>
            <a:ext cx="19240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Inter"/>
              </a:rPr>
              <a:t>Otimização de Consultas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049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Views: Informação Pronta para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876425"/>
            <a:ext cx="866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"/>
              </a:rPr>
              <a:t>Consultas SQL armazenadas tratadas como tabelas. Facilitam acesso frequente e criação de relatórios.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2943225"/>
            <a:ext cx="4167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monospace"/>
              </a:rPr>
              <a:t>vw_clientes_mais_compras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300" y="2943225"/>
            <a:ext cx="67508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Conta a quantidade de pedidos realizados por cada cliente.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3857625"/>
            <a:ext cx="4167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monospace"/>
              </a:rPr>
              <a:t>vw_produto_mais_vendido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3857625"/>
            <a:ext cx="6524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Apresenta o volume total de unidades vendidas por item.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50" y="4772025"/>
            <a:ext cx="4167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monospace"/>
              </a:rPr>
              <a:t>vw_total_vendas_cliente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6300" y="4772025"/>
            <a:ext cx="6084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Calcula o valor financeiro total gasto por consumidor.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09762"/>
            <a:ext cx="50292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919287"/>
            <a:ext cx="5010150" cy="3790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85962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033712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081462"/>
            <a:ext cx="1714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881562"/>
            <a:ext cx="2571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Análise Comercial e Desempenho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1957387"/>
            <a:ext cx="468630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Função COUNT </a:t>
            </a:r>
            <a:r>
              <a:rPr sz="1650" b="1" i="0" u="none">
                <a:solidFill>
                  <a:srgbClr val="64748B"/>
                </a:solidFill>
                <a:latin typeface="Inter"/>
              </a:rPr>
              <a:t>Identifica clientes com maior volume de pedidos.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005137"/>
            <a:ext cx="4714875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Função SUM </a:t>
            </a:r>
            <a:r>
              <a:rPr sz="1650" b="1" i="0" u="none">
                <a:solidFill>
                  <a:srgbClr val="64748B"/>
                </a:solidFill>
                <a:latin typeface="Inter"/>
              </a:rPr>
              <a:t>Descobre os produtos mais populares em unidades.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5850" y="4052887"/>
            <a:ext cx="41148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Cálculo de Faturamento </a:t>
            </a:r>
            <a:r>
              <a:rPr sz="1650" b="1" i="0" u="none">
                <a:solidFill>
                  <a:srgbClr val="64748B"/>
                </a:solidFill>
                <a:latin typeface="Inter"/>
              </a:rPr>
              <a:t>Multiplica quantidade pelo preço unitário.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4852987"/>
            <a:ext cx="4714875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Ordenação (ORDER BY) </a:t>
            </a:r>
            <a:r>
              <a:rPr sz="1650" b="1" i="0" u="none">
                <a:solidFill>
                  <a:srgbClr val="64748B"/>
                </a:solidFill>
                <a:latin typeface="Inter"/>
              </a:rPr>
              <a:t>Destaca os maiores valores ou destaques de vendas.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609600"/>
            <a:ext cx="17907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4395787"/>
            <a:ext cx="5029200" cy="1133475"/>
          </a:xfrm>
          <a:prstGeom prst="roundRect">
            <a:avLst>
              <a:gd name="adj" fmla="val 1008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0" y="2957512"/>
            <a:ext cx="5029200" cy="2209800"/>
          </a:xfrm>
          <a:prstGeom prst="roundRect">
            <a:avLst>
              <a:gd name="adj" fmla="val 517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04850"/>
            <a:ext cx="1905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1100" y="685800"/>
            <a:ext cx="131445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Inter"/>
              </a:rPr>
              <a:t>Lógica no Banco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049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Stored Procedures: Operações Centrais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595562"/>
            <a:ext cx="66008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Montserrat"/>
              </a:rPr>
              <a:t>Reutilização de Regras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48012"/>
            <a:ext cx="51244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Inter"/>
              </a:rPr>
              <a:t>Conjuntos de comandos SQL salvos no banco. Eliminam reescrita de código e centralizam lógicas complexas.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3262312"/>
            <a:ext cx="451485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084FC"/>
                </a:solidFill>
                <a:latin typeface="monospace"/>
              </a:rPr>
              <a:t>CREATE PROCEDURE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sp_vendas_cliente(id INT)</a:t>
            </a:r>
            <a:r>
              <a:t>
</a:t>
            </a:r>
            <a:r>
              <a:rPr sz="1350" b="0" i="0" u="none">
                <a:solidFill>
                  <a:srgbClr val="F472B6"/>
                </a:solidFill>
                <a:latin typeface="monospace"/>
              </a:rPr>
              <a:t>BEGIN</a:t>
            </a:r>
            <a:r>
              <a:t>
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  </a:t>
            </a:r>
            <a:r>
              <a:rPr sz="1350" b="0" i="0" u="none">
                <a:solidFill>
                  <a:srgbClr val="A78BFA"/>
                </a:solidFill>
                <a:latin typeface="monospace"/>
              </a:rPr>
              <a:t>SELECT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SUM(Qtd * Preco)</a:t>
            </a:r>
            <a:r>
              <a:t>
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  </a:t>
            </a:r>
            <a:r>
              <a:rPr sz="1350" b="0" i="0" u="none">
                <a:solidFill>
                  <a:srgbClr val="A78BFA"/>
                </a:solidFill>
                <a:latin typeface="monospace"/>
              </a:rPr>
              <a:t>FROM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Pedidos p</a:t>
            </a:r>
            <a:r>
              <a:t>
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  </a:t>
            </a:r>
            <a:r>
              <a:rPr sz="1350" b="0" i="0" u="none">
                <a:solidFill>
                  <a:srgbClr val="A78BFA"/>
                </a:solidFill>
                <a:latin typeface="monospace"/>
              </a:rPr>
              <a:t>JOIN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Produtos pr </a:t>
            </a:r>
            <a:r>
              <a:rPr sz="1350" b="0" i="0" u="none">
                <a:solidFill>
                  <a:srgbClr val="A78BFA"/>
                </a:solidFill>
                <a:latin typeface="monospace"/>
              </a:rPr>
              <a:t>ON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...</a:t>
            </a:r>
            <a:r>
              <a:t>
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  </a:t>
            </a:r>
            <a:r>
              <a:rPr sz="1350" b="0" i="0" u="none">
                <a:solidFill>
                  <a:srgbClr val="A78BFA"/>
                </a:solidFill>
                <a:latin typeface="monospace"/>
              </a:rPr>
              <a:t>WHERE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 p.id_cliente = id;</a:t>
            </a:r>
            <a:r>
              <a:t>
</a:t>
            </a:r>
            <a:r>
              <a:rPr sz="1350" b="0" i="0" u="none">
                <a:solidFill>
                  <a:srgbClr val="F472B6"/>
                </a:solidFill>
                <a:latin typeface="monospace"/>
              </a:rPr>
              <a:t>END</a:t>
            </a:r>
            <a:r>
              <a:rPr sz="1350" b="0" i="0" u="none">
                <a:solidFill>
                  <a:srgbClr val="38BDF8"/>
                </a:solidFill>
                <a:latin typeface="monospace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633912"/>
            <a:ext cx="597574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4ED8"/>
                </a:solidFill>
                <a:latin typeface="Montserrat"/>
              </a:rPr>
              <a:t>Exemplo: sp_vendas_cliente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891087"/>
            <a:ext cx="4648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3A8A"/>
                </a:solidFill>
                <a:latin typeface="Inter"/>
              </a:rPr>
              <a:t>Recebe ID do cliente e calcula total de vendas unindo tabelas cruzadas.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19500" y="3919537"/>
            <a:ext cx="10477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24750" y="3919537"/>
            <a:ext cx="104775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3476625"/>
            <a:ext cx="762000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476625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0" y="3476625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3705225"/>
            <a:ext cx="3429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3705225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0" y="3705225"/>
            <a:ext cx="3810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Triggers: Automação de Eventos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1381125"/>
            <a:ext cx="952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Gatilhos que executam ações automáticas após eventos (INSERT, UPDATE, DELETE).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139" y="4391025"/>
            <a:ext cx="17752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Montserrat"/>
              </a:rPr>
              <a:t>1. Novo Pedido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812" y="4762500"/>
            <a:ext cx="35718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Comando INSERT registrado na tabela de Pedidos.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7091" y="4391025"/>
            <a:ext cx="253781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Montserrat"/>
              </a:rPr>
              <a:t>2. Trigger Executada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0062" y="4762500"/>
            <a:ext cx="35718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u="none">
                <a:solidFill>
                  <a:srgbClr val="64748B"/>
                </a:solidFill>
                <a:latin typeface="Inter"/>
              </a:rPr>
              <a:t>trg_atualiza_estoque</a:t>
            </a:r>
            <a:r>
              <a:rPr sz="1200" b="0" i="0" u="none">
                <a:solidFill>
                  <a:srgbClr val="64748B"/>
                </a:solidFill>
                <a:latin typeface="Inter"/>
              </a:rPr>
              <a:t> acionada automaticamente pelo banco.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9833" y="4391025"/>
            <a:ext cx="266283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4" b="1" i="0" u="none">
                <a:solidFill>
                  <a:srgbClr val="0F172A"/>
                </a:solidFill>
                <a:latin typeface="Montserrat"/>
              </a:rPr>
              <a:t>3. Estoque Atualizado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5312" y="4762500"/>
            <a:ext cx="35718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Quantidade subtraída do estoque sem ação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128837"/>
            <a:ext cx="5029200" cy="1571625"/>
          </a:xfrm>
          <a:prstGeom prst="roundRect">
            <a:avLst>
              <a:gd name="adj" fmla="val 9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929062"/>
            <a:ext cx="5029200" cy="1571625"/>
          </a:xfrm>
          <a:prstGeom prst="roundRect">
            <a:avLst>
              <a:gd name="adj" fmla="val 96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86650" y="2500312"/>
            <a:ext cx="2857500" cy="57150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86650" y="3224212"/>
            <a:ext cx="2428875" cy="571500"/>
          </a:xfrm>
          <a:prstGeom prst="roundRect">
            <a:avLst>
              <a:gd name="adj" fmla="val 13333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86650" y="3948112"/>
            <a:ext cx="2000250" cy="571500"/>
          </a:xfrm>
          <a:prstGeom prst="roundRect">
            <a:avLst>
              <a:gd name="adj" fmla="val 13333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475" y="48244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Normalização e Integridade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2519362"/>
            <a:ext cx="55756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Propósito Específico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909887"/>
            <a:ext cx="4343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Cada tabela armazena apenas seu contexto (Clientes em clientes, etc).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319587"/>
            <a:ext cx="55756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Montserrat"/>
              </a:rPr>
              <a:t>Zero Redundância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710112"/>
            <a:ext cx="4343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Telefones não precisam ser repetidos a cada novo pedido.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8675" y="4824412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Dados Íntegros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314575"/>
            <a:ext cx="5181600" cy="3000375"/>
          </a:xfrm>
          <a:prstGeom prst="roundRect">
            <a:avLst>
              <a:gd name="adj" fmla="val 507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314575"/>
            <a:ext cx="5181600" cy="3000375"/>
          </a:xfrm>
          <a:prstGeom prst="roundRect">
            <a:avLst>
              <a:gd name="adj" fmla="val 5079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705100"/>
            <a:ext cx="440055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5" y="2705100"/>
            <a:ext cx="44005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3838575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4143375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4448175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4752975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3838575"/>
            <a:ext cx="142875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143375"/>
            <a:ext cx="142875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448175"/>
            <a:ext cx="142875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925" y="4752975"/>
            <a:ext cx="142875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09600"/>
            <a:ext cx="11430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Montserrat"/>
              </a:rPr>
              <a:t>Resultados e Próximos Passos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238500"/>
            <a:ext cx="577572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Montserrat"/>
              </a:rPr>
              <a:t>Benefícios Alcançados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3238500"/>
            <a:ext cx="55530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C1D95"/>
                </a:solidFill>
                <a:latin typeface="Montserrat"/>
              </a:rPr>
              <a:t>Melhorias Futuras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3819525"/>
            <a:ext cx="5500687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Centralização da informação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525" y="4124325"/>
            <a:ext cx="5500687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Organização estrutural de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525" y="4429125"/>
            <a:ext cx="5500687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Consultas e relatórios rápidos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4733925"/>
            <a:ext cx="5500687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Automação na baixa de estoque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3819525"/>
            <a:ext cx="5500687" cy="1905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Cadastro de funcionários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4124325"/>
            <a:ext cx="5500687" cy="1905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Gestão de formas de pagamento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429125"/>
            <a:ext cx="5500687" cy="1905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Histórico de flutuação de estoque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925" y="4733925"/>
            <a:ext cx="5500687" cy="190500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Relatórios comerciais detalhados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24500" y="4614862"/>
            <a:ext cx="1143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2205037"/>
            <a:ext cx="5334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343" y="3119437"/>
            <a:ext cx="12025312" cy="1114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0F172A"/>
                </a:solidFill>
                <a:latin typeface="Montserrat"/>
              </a:rPr>
              <a:t>MUITO OBRIGADO!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0032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32529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4155"/>
                </a:solidFill>
                <a:latin typeface="Montserrat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5655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https://images.presentationgo.com/2025/11/digital-grid-background-data.jpg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3059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www.presentationgo.com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https://media.istockphoto.com/id/1454372869/vector/data-analysis-chart-graph-3d-statistics-background.jpg?s=612x612&amp;w=0&amp;k=20&amp;c=n2Vz6dpQ4EUwJwOhkX2YjMWX_dx2x_ZjPsERnejS1Jc=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14550"/>
            <a:ext cx="2774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43187"/>
            <a:ext cx="7739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Inter"/>
              </a:rPr>
              <a:t>https://as1.ftcdn.net/v2/jpg/21/13/62/62/1000_F_2113626288_Q2o9MaqL1fy5CxKkaVMEijVtyeQOPqCY.jpg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43212"/>
            <a:ext cx="2202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www.posters.cz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468</Words>
  <Application>Microsoft Macintosh PowerPoint</Application>
  <PresentationFormat>Personalizar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Arial</vt:lpstr>
      <vt:lpstr>Calibri</vt:lpstr>
      <vt:lpstr>Montserrat</vt:lpstr>
      <vt:lpstr>Inter</vt:lpstr>
      <vt:lpstr>monospace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dc:description>generated using python-pptx</dc:description>
  <cp:lastModifiedBy>aluno</cp:lastModifiedBy>
  <cp:revision>2</cp:revision>
  <dcterms:created xsi:type="dcterms:W3CDTF">2013-01-27T09:14:16Z</dcterms:created>
  <dcterms:modified xsi:type="dcterms:W3CDTF">2026-10-15T19:45:57Z</dcterms:modified>
</cp:coreProperties>
</file>